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65" r:id="rId12"/>
    <p:sldId id="268" r:id="rId13"/>
    <p:sldId id="270" r:id="rId14"/>
    <p:sldId id="271" r:id="rId15"/>
    <p:sldId id="272" r:id="rId16"/>
    <p:sldId id="274" r:id="rId17"/>
    <p:sldId id="275" r:id="rId18"/>
    <p:sldId id="279" r:id="rId19"/>
    <p:sldId id="276" r:id="rId20"/>
    <p:sldId id="277" r:id="rId21"/>
    <p:sldId id="281" r:id="rId22"/>
    <p:sldId id="282" r:id="rId23"/>
    <p:sldId id="285" r:id="rId24"/>
    <p:sldId id="286" r:id="rId25"/>
    <p:sldId id="287" r:id="rId26"/>
    <p:sldId id="28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033" autoAdjust="0"/>
    <p:restoredTop sz="94660"/>
  </p:normalViewPr>
  <p:slideViewPr>
    <p:cSldViewPr snapToGrid="0">
      <p:cViewPr varScale="1">
        <p:scale>
          <a:sx n="66" d="100"/>
          <a:sy n="66" d="100"/>
        </p:scale>
        <p:origin x="48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973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10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680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32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56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1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07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72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57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597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5388-A1FE-4590-A424-AF6B09356A9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767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D5388-A1FE-4590-A424-AF6B09356A9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8F2C0-1CD0-4548-9E4C-DD46A8758D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99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Times New Roman" panose="020B0604020202020204" pitchFamily="34" charset="0"/>
        <a:buChar char="•"/>
        <a:defRPr sz="28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2400" kern="12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050" y="4571464"/>
            <a:ext cx="8531551" cy="711437"/>
          </a:xfrm>
        </p:spPr>
        <p:txBody>
          <a:bodyPr wrap="square">
            <a:normAutofit fontScale="77500" lnSpcReduction="20000"/>
          </a:bodyPr>
          <a:lstStyle/>
          <a:p>
            <a:pPr algn="ctr"/>
            <a:r>
              <a:rPr sz="1600" b="1" dirty="0">
                <a:latin typeface="Times New Roman"/>
                <a:ea typeface="Times New Roman"/>
                <a:cs typeface="Times New Roman"/>
              </a:rPr>
              <a:t>Yash Kumar Raut  ·  Rishu Mehta  ·  Suman Kumar</a:t>
            </a:r>
            <a:endParaRPr lang="en-US" dirty="0"/>
          </a:p>
          <a:p>
            <a:pPr algn="ctr"/>
            <a:r>
              <a:rPr sz="1400" b="0" dirty="0">
                <a:latin typeface="Times New Roman"/>
                <a:ea typeface="Times New Roman"/>
                <a:cs typeface="Times New Roman"/>
              </a:rPr>
              <a:t>Guide: Dr. Sampa Sahoo</a:t>
            </a:r>
          </a:p>
          <a:p>
            <a:pPr algn="ctr"/>
            <a:r>
              <a:rPr sz="1200" b="0" dirty="0">
                <a:latin typeface="Times New Roman"/>
                <a:ea typeface="Times New Roman"/>
                <a:cs typeface="Times New Roman"/>
              </a:rPr>
              <a:t>Dept. of Computer Science &amp; Engineering, C. V. Raman Global University, Bhubaneswar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66688" y="28573"/>
            <a:ext cx="11794404" cy="23844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defRPr/>
            </a:pPr>
            <a:endParaRPr 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34950" y="712788"/>
            <a:ext cx="11790363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9pPr>
          </a:lstStyle>
          <a:p>
            <a:pPr algn="ctr" eaLnBrk="1" hangingPunct="1"/>
            <a:r>
              <a:rPr sz="2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
Approach with AI-Based Parameter Selection
and Selective Region Protection</a:t>
            </a: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1419225" y="4763"/>
            <a:ext cx="93535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B0604020202020204" pitchFamily="34" charset="0"/>
                <a:cs typeface="Times New Roman" panose="020B0604020202020204" pitchFamily="34" charset="0"/>
              </a:defRPr>
            </a:lvl9pPr>
          </a:lstStyle>
          <a:p>
            <a:pPr algn="ctr"/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Major Project Presentation</a:t>
            </a:r>
            <a:endParaRPr lang="en-US" alt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16634" y="2563342"/>
            <a:ext cx="1762384" cy="167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4081875" y="5519990"/>
            <a:ext cx="731520" cy="57150"/>
          </a:xfrm>
          <a:prstGeom prst="roundRect">
            <a:avLst>
              <a:gd name="adj" fmla="val 4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923123" y="5519990"/>
            <a:ext cx="731520" cy="57150"/>
          </a:xfrm>
          <a:prstGeom prst="roundRect">
            <a:avLst>
              <a:gd name="adj" fmla="val 45000"/>
            </a:avLst>
          </a:prstGeom>
          <a:solidFill>
            <a:srgbClr val="9A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764371" y="5519990"/>
            <a:ext cx="731520" cy="57150"/>
          </a:xfrm>
          <a:prstGeom prst="roundRect">
            <a:avLst>
              <a:gd name="adj" fmla="val 45000"/>
            </a:avLst>
          </a:prstGeom>
          <a:solidFill>
            <a:srgbClr val="5E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05619" y="5519990"/>
            <a:ext cx="731520" cy="57150"/>
          </a:xfrm>
          <a:prstGeom prst="roundRect">
            <a:avLst>
              <a:gd name="adj" fmla="val 45000"/>
            </a:avLst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269" y="5989764"/>
            <a:ext cx="1118311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 dirty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Major Project  ·  Session 2025 – 26</a:t>
            </a:r>
          </a:p>
        </p:txBody>
      </p:sp>
    </p:spTree>
    <p:extLst>
      <p:ext uri="{BB962C8B-B14F-4D97-AF65-F5344CB8AC3E}">
        <p14:creationId xmlns:p14="http://schemas.microsoft.com/office/powerpoint/2010/main" val="3979525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Outline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402336"/>
            <a:ext cx="34564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5330952" cy="4663440"/>
          </a:xfrm>
          <a:prstGeom prst="roundRect">
            <a:avLst>
              <a:gd name="adj" fmla="val 35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50292" cy="4480560"/>
          </a:xfrm>
          <a:prstGeom prst="roundRect">
            <a:avLst>
              <a:gd name="adj" fmla="val 4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1353312"/>
            <a:ext cx="4946904" cy="437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400"/>
              </a:spcAft>
            </a:pPr>
            <a:r>
              <a:rPr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01</a:t>
            </a:r>
            <a:r>
              <a:rPr sz="1800" b="0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    Introduction — Image Encryption &amp; Decryption</a:t>
            </a:r>
          </a:p>
          <a:p>
            <a:pPr>
              <a:spcAft>
                <a:spcPts val="2400"/>
              </a:spcAft>
            </a:pPr>
            <a:r>
              <a:rPr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02</a:t>
            </a:r>
            <a:r>
              <a:rPr sz="1800" b="0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    Types of Image Encryption</a:t>
            </a:r>
          </a:p>
          <a:p>
            <a:pPr>
              <a:spcAft>
                <a:spcPts val="2400"/>
              </a:spcAft>
            </a:pPr>
            <a:r>
              <a:rPr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03</a:t>
            </a:r>
            <a:r>
              <a:rPr sz="1800" b="0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    Literature Study (12 papers)</a:t>
            </a:r>
          </a:p>
          <a:p>
            <a:pPr>
              <a:spcAft>
                <a:spcPts val="2400"/>
              </a:spcAft>
            </a:pPr>
            <a:r>
              <a:rPr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04</a:t>
            </a:r>
            <a:r>
              <a:rPr sz="1800" b="0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    Research Gap</a:t>
            </a:r>
          </a:p>
          <a:p>
            <a:pPr>
              <a:spcAft>
                <a:spcPts val="2400"/>
              </a:spcAft>
            </a:pPr>
            <a:r>
              <a:rPr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05</a:t>
            </a:r>
            <a:r>
              <a:rPr sz="1800" b="0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    Objectives of the Project</a:t>
            </a:r>
          </a:p>
          <a:p>
            <a:pPr>
              <a:spcAft>
                <a:spcPts val="2400"/>
              </a:spcAft>
            </a:pPr>
            <a:r>
              <a:rPr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06</a:t>
            </a:r>
            <a:r>
              <a:rPr sz="1800" b="0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lang="en-US" sz="180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Methodology</a:t>
            </a:r>
          </a:p>
          <a:p>
            <a:pPr>
              <a:spcAft>
                <a:spcPts val="2400"/>
              </a:spcAft>
            </a:pPr>
            <a:r>
              <a:rPr lang="en-US" sz="18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07</a:t>
            </a:r>
            <a:r>
              <a:rPr lang="en-US">
                <a:solidFill>
                  <a:srgbClr val="162F33"/>
                </a:solidFill>
              </a:rPr>
              <a:t>    Technology Platform</a:t>
            </a:r>
            <a:endParaRPr lang="en-US" sz="1800" b="0" i="0">
              <a:solidFill>
                <a:srgbClr val="162F33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spcAft>
                <a:spcPts val="2400"/>
              </a:spcAft>
            </a:pPr>
            <a:r>
              <a:rPr lang="en-US" sz="18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08    </a:t>
            </a:r>
            <a:r>
              <a:rPr lang="en-US" dirty="0">
                <a:solidFill>
                  <a:srgbClr val="162F33"/>
                </a:solidFill>
              </a:rPr>
              <a:t>Project Feature Overview</a:t>
            </a:r>
            <a:endParaRPr sz="1800" b="0" i="0" dirty="0">
              <a:solidFill>
                <a:srgbClr val="162F33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55080" y="1207008"/>
            <a:ext cx="5330952" cy="4663440"/>
          </a:xfrm>
          <a:prstGeom prst="roundRect">
            <a:avLst>
              <a:gd name="adj" fmla="val 35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5080" y="1298448"/>
            <a:ext cx="50292" cy="4480560"/>
          </a:xfrm>
          <a:prstGeom prst="roundRect">
            <a:avLst>
              <a:gd name="adj" fmla="val 4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74536" y="1353312"/>
            <a:ext cx="4946904" cy="427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09</a:t>
            </a:r>
            <a:r>
              <a:rPr lang="en-US"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lang="en-US">
                <a:solidFill>
                  <a:srgbClr val="162F33"/>
                </a:solidFill>
              </a:rPr>
              <a:t>Implementation — The Four Steps</a:t>
            </a:r>
          </a:p>
          <a:p>
            <a:pPr>
              <a:spcAft>
                <a:spcPts val="1300"/>
              </a:spcAft>
            </a:pPr>
            <a:r>
              <a:rPr lang="en-US" sz="18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10    </a:t>
            </a:r>
            <a:r>
              <a:rPr lang="en-US" dirty="0">
                <a:solidFill>
                  <a:srgbClr val="162F33"/>
                </a:solidFill>
              </a:rPr>
              <a:t>The Four Steps in Detail</a:t>
            </a:r>
            <a:endParaRPr lang="en-US" sz="1800" b="0" i="0">
              <a:solidFill>
                <a:srgbClr val="162F33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spcAft>
                <a:spcPts val="1300"/>
              </a:spcAft>
            </a:pPr>
            <a:r>
              <a:rPr lang="en-US"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11</a:t>
            </a:r>
            <a:r>
              <a:rPr lang="en-US" dirty="0">
                <a:solidFill>
                  <a:srgbClr val="162F33"/>
                </a:solidFill>
              </a:rPr>
              <a:t>     </a:t>
            </a:r>
            <a:r>
              <a:rPr lang="en-US">
                <a:solidFill>
                  <a:srgbClr val="162F33"/>
                </a:solidFill>
              </a:rPr>
              <a:t>Project Flow Chart</a:t>
            </a:r>
            <a:endParaRPr lang="en-US" sz="1800" b="0" i="0" dirty="0">
              <a:solidFill>
                <a:srgbClr val="162F33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spcAft>
                <a:spcPts val="1300"/>
              </a:spcAft>
            </a:pPr>
            <a:r>
              <a:rPr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lang="en-US"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US" dirty="0">
                <a:solidFill>
                  <a:srgbClr val="162F33"/>
                </a:solidFill>
              </a:rPr>
              <a:t>     </a:t>
            </a:r>
            <a:r>
              <a:rPr lang="en-US">
                <a:solidFill>
                  <a:srgbClr val="162F33"/>
                </a:solidFill>
              </a:rPr>
              <a:t>The Whole Pipeline on a Real Image</a:t>
            </a:r>
            <a:endParaRPr sz="1800" b="0" i="0" dirty="0">
              <a:solidFill>
                <a:srgbClr val="162F33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spcAft>
                <a:spcPts val="1300"/>
              </a:spcAft>
            </a:pPr>
            <a:r>
              <a:rPr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lang="en-US"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lang="en-US" dirty="0">
                <a:solidFill>
                  <a:srgbClr val="162F33"/>
                </a:solidFill>
              </a:rPr>
              <a:t>     </a:t>
            </a:r>
            <a:r>
              <a:rPr lang="en-US">
                <a:solidFill>
                  <a:srgbClr val="162F33"/>
                </a:solidFill>
              </a:rPr>
              <a:t>Selective Region Encryption</a:t>
            </a:r>
            <a:endParaRPr sz="1800" b="0" i="0" dirty="0">
              <a:solidFill>
                <a:srgbClr val="162F33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spcAft>
                <a:spcPts val="1300"/>
              </a:spcAft>
            </a:pPr>
            <a:r>
              <a:rPr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lang="en-US"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lang="en-US" dirty="0">
                <a:solidFill>
                  <a:srgbClr val="162F33"/>
                </a:solidFill>
              </a:rPr>
              <a:t>     Results </a:t>
            </a:r>
          </a:p>
          <a:p>
            <a:pPr>
              <a:spcAft>
                <a:spcPts val="1300"/>
              </a:spcAft>
            </a:pPr>
            <a:r>
              <a:rPr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lang="en-US"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lang="en-US" dirty="0">
                <a:solidFill>
                  <a:srgbClr val="162F33"/>
                </a:solidFill>
              </a:rPr>
              <a:t>     Live Application</a:t>
            </a:r>
            <a:endParaRPr sz="1800" b="0" i="0" dirty="0">
              <a:solidFill>
                <a:srgbClr val="162F33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spcAft>
                <a:spcPts val="1300"/>
              </a:spcAft>
            </a:pPr>
            <a:r>
              <a:rPr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lang="en-US" sz="18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lang="en-US" dirty="0">
                <a:solidFill>
                  <a:srgbClr val="162F33"/>
                </a:solidFill>
              </a:rPr>
              <a:t>     References</a:t>
            </a:r>
          </a:p>
          <a:p>
            <a:pPr>
              <a:spcAft>
                <a:spcPts val="1300"/>
              </a:spcAft>
            </a:pPr>
            <a:endParaRPr lang="en-US" dirty="0">
              <a:solidFill>
                <a:srgbClr val="162F33"/>
              </a:solidFill>
            </a:endParaRPr>
          </a:p>
          <a:p>
            <a:pPr>
              <a:spcAft>
                <a:spcPts val="1300"/>
              </a:spcAft>
            </a:pPr>
            <a:endParaRPr sz="1800" b="0" i="0" dirty="0">
              <a:solidFill>
                <a:srgbClr val="162F33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 / </a:t>
            </a:r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26</a:t>
            </a:r>
            <a:endParaRPr sz="1050" b="1" i="0" dirty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Introduction — Image Encryption and Decryption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6355080" cy="3163824"/>
          </a:xfrm>
          <a:prstGeom prst="roundRect">
            <a:avLst>
              <a:gd name="adj" fmla="val 35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50292" cy="2980944"/>
          </a:xfrm>
          <a:prstGeom prst="roundRect">
            <a:avLst>
              <a:gd name="adj" fmla="val 4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1353312"/>
            <a:ext cx="5971032" cy="2871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What is it?</a:t>
            </a:r>
          </a:p>
          <a:p>
            <a:pPr>
              <a:spcAft>
                <a:spcPts val="200"/>
              </a:spcAft>
            </a:pPr>
            <a:r>
              <a:rPr sz="1550" b="0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5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A normal image is turned into a scrambled, noise-like image using a secret key</a:t>
            </a:r>
          </a:p>
          <a:p>
            <a:pPr>
              <a:spcAft>
                <a:spcPts val="6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Decryption is the exact reverse — with the correct key the original image must come back with no loss of quality.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5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Why do images need special treatment?</a:t>
            </a:r>
          </a:p>
          <a:p>
            <a:pPr>
              <a:spcAft>
                <a:spcPts val="200"/>
              </a:spcAft>
            </a:pPr>
            <a:r>
              <a:rPr sz="1550" b="0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5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Images are large</a:t>
            </a:r>
          </a:p>
          <a:p>
            <a:pPr>
              <a:spcAft>
                <a:spcPts val="6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One 512×512 photo is about 262 KB against a few bytes of text, so ordinary ciphers become slow.</a:t>
            </a:r>
          </a:p>
          <a:p>
            <a:pPr>
              <a:spcAft>
                <a:spcPts val="200"/>
              </a:spcAft>
            </a:pPr>
            <a:r>
              <a:rPr sz="1550" b="0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5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Neighbouring pixels are almost identical</a:t>
            </a:r>
          </a:p>
          <a:p>
            <a:pPr>
              <a:spcAft>
                <a:spcPts val="6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A pixel and the one next to it usually hold nearly the same value, so patterns leak straight through a weak cipher.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98848"/>
            <a:ext cx="6355080" cy="1481328"/>
          </a:xfrm>
          <a:prstGeom prst="roundRect">
            <a:avLst>
              <a:gd name="adj" fmla="val 3500"/>
            </a:avLst>
          </a:prstGeom>
          <a:solidFill>
            <a:srgbClr val="F7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4590288"/>
            <a:ext cx="50292" cy="1298448"/>
          </a:xfrm>
          <a:prstGeom prst="roundRect">
            <a:avLst>
              <a:gd name="adj" fmla="val 45000"/>
            </a:avLst>
          </a:prstGeom>
          <a:solidFill>
            <a:srgbClr val="9A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4645152"/>
            <a:ext cx="597103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9A6608"/>
                </a:solidFill>
                <a:latin typeface="Times New Roman"/>
                <a:ea typeface="Times New Roman"/>
                <a:cs typeface="Times New Roman"/>
              </a:rPr>
              <a:t>Where it is used</a:t>
            </a:r>
          </a:p>
          <a:p>
            <a:pPr>
              <a:spcAft>
                <a:spcPts val="200"/>
              </a:spcAft>
            </a:pPr>
            <a:r>
              <a:rPr sz="1550" b="0" i="0">
                <a:solidFill>
                  <a:srgbClr val="9A6608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5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Medical scans · Aadhaar and ID photos · military and satellite imagery · cloud photo storage · CCTV and IoT cameras</a:t>
            </a:r>
          </a:p>
          <a:p>
            <a:pPr>
              <a:spcAft>
                <a:spcPts val="4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Anywhere a picture travels over the internet and has to stay private.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0024" y="2039112"/>
            <a:ext cx="4645152" cy="2123857"/>
          </a:xfrm>
          <a:prstGeom prst="rect">
            <a:avLst/>
          </a:prstGeom>
          <a:solidFill>
            <a:srgbClr val="FFFFFF"/>
          </a:solidFill>
          <a:ln w="1143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intro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2048256"/>
            <a:ext cx="4626864" cy="210556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59168" y="4553712"/>
            <a:ext cx="462686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The whole project in one line: the middle image is what an attacker sees, and only the key brings the third image back.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3 / </a:t>
            </a:r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B0929D2-768F-9C1D-3548-AD59F8AE3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648" y="2531019"/>
            <a:ext cx="1127375" cy="11529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EE22A68-0A08-D4B6-8CCC-4B82023F03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0" b="1691"/>
          <a:stretch>
            <a:fillRect/>
          </a:stretch>
        </p:blipFill>
        <p:spPr>
          <a:xfrm>
            <a:off x="10526145" y="2536099"/>
            <a:ext cx="1127375" cy="11265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Types of Image Encryption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3593592" cy="2066543"/>
          </a:xfrm>
          <a:prstGeom prst="roundRect">
            <a:avLst>
              <a:gd name="adj" fmla="val 4500"/>
            </a:avLst>
          </a:prstGeom>
          <a:solidFill>
            <a:srgbClr val="F7FAFB"/>
          </a:solidFill>
          <a:ln w="13970">
            <a:solidFill>
              <a:srgbClr val="008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3167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316736"/>
            <a:ext cx="28254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Traditional Block Ciphers</a:t>
            </a:r>
          </a:p>
        </p:txBody>
      </p:sp>
      <p:pic>
        <p:nvPicPr>
          <p:cNvPr id="10" name="Picture 9" descr="type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755648"/>
            <a:ext cx="1095022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84248" y="1737360"/>
            <a:ext cx="191109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AES, DES, RSA and Blowfish. Standard, well studied and very strong — but slow once the image gets large.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07008"/>
            <a:ext cx="3593592" cy="2066543"/>
          </a:xfrm>
          <a:prstGeom prst="roundRect">
            <a:avLst>
              <a:gd name="adj" fmla="val 4500"/>
            </a:avLst>
          </a:prstGeom>
          <a:solidFill>
            <a:srgbClr val="F7FAFB"/>
          </a:solidFill>
          <a:ln w="13970">
            <a:solidFill>
              <a:srgbClr val="008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13167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1316736"/>
            <a:ext cx="28254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Chaos-Based</a:t>
            </a:r>
          </a:p>
        </p:txBody>
      </p:sp>
      <p:pic>
        <p:nvPicPr>
          <p:cNvPr id="15" name="Picture 14" descr="type_cha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1755648"/>
            <a:ext cx="1095022" cy="1097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79008" y="1737360"/>
            <a:ext cx="191109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Arnold Cat Map, Logistic Map, Baker Map. Fast, an enormous key space, and wildly sensitive to the key.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07008"/>
            <a:ext cx="3593592" cy="2066543"/>
          </a:xfrm>
          <a:prstGeom prst="roundRect">
            <a:avLst>
              <a:gd name="adj" fmla="val 4500"/>
            </a:avLst>
          </a:prstGeom>
          <a:solidFill>
            <a:srgbClr val="FBECF0"/>
          </a:solidFill>
          <a:ln w="2540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3167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1316736"/>
            <a:ext cx="28254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Hybrid Chaotic</a:t>
            </a:r>
          </a:p>
        </p:txBody>
      </p:sp>
      <p:pic>
        <p:nvPicPr>
          <p:cNvPr id="20" name="Picture 19" descr="type_hyb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4" y="1755648"/>
            <a:ext cx="1095022" cy="1097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73768" y="1737360"/>
            <a:ext cx="191109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Two chaotic maps together — one shuffles the pixel positions, the other changes the pixel values.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92608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◆  OUR MAIN METHOD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438143"/>
            <a:ext cx="3593592" cy="2066543"/>
          </a:xfrm>
          <a:prstGeom prst="roundRect">
            <a:avLst>
              <a:gd name="adj" fmla="val 4500"/>
            </a:avLst>
          </a:prstGeom>
          <a:solidFill>
            <a:srgbClr val="F7FAFB"/>
          </a:solidFill>
          <a:ln w="13970">
            <a:solidFill>
              <a:srgbClr val="9A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3547871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9A6608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3547871"/>
            <a:ext cx="28254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Transform Domain</a:t>
            </a:r>
          </a:p>
        </p:txBody>
      </p:sp>
      <p:pic>
        <p:nvPicPr>
          <p:cNvPr id="26" name="Picture 25" descr="type_transf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986783"/>
            <a:ext cx="1095022" cy="10972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984248" y="3968495"/>
            <a:ext cx="191109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DCT, DWT and the Fractional Fourier Transform. The transform setting itself becomes an extra key.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438143"/>
            <a:ext cx="3593592" cy="2066543"/>
          </a:xfrm>
          <a:prstGeom prst="roundRect">
            <a:avLst>
              <a:gd name="adj" fmla="val 4500"/>
            </a:avLst>
          </a:prstGeom>
          <a:solidFill>
            <a:srgbClr val="F7FAFB"/>
          </a:solidFill>
          <a:ln w="13970">
            <a:solidFill>
              <a:srgbClr val="9A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98848" y="3547871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9A6608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8" y="3547871"/>
            <a:ext cx="28254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DNA-Based</a:t>
            </a:r>
          </a:p>
        </p:txBody>
      </p:sp>
      <p:pic>
        <p:nvPicPr>
          <p:cNvPr id="31" name="Picture 30" descr="type_d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424" y="3986783"/>
            <a:ext cx="1095022" cy="10972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779008" y="3968495"/>
            <a:ext cx="191109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Pixel values are rewritten as DNA letters — A, T, G, C — and then mixed using DNA addition rules.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438143"/>
            <a:ext cx="3593592" cy="2066543"/>
          </a:xfrm>
          <a:prstGeom prst="roundRect">
            <a:avLst>
              <a:gd name="adj" fmla="val 4500"/>
            </a:avLst>
          </a:prstGeom>
          <a:solidFill>
            <a:srgbClr val="F7FAFB"/>
          </a:solidFill>
          <a:ln w="13970">
            <a:solidFill>
              <a:srgbClr val="5E4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93608" y="3547871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5E4AA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9368" y="3547871"/>
            <a:ext cx="28254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AI / Learning-Based</a:t>
            </a:r>
          </a:p>
        </p:txBody>
      </p:sp>
      <p:pic>
        <p:nvPicPr>
          <p:cNvPr id="36" name="Picture 35" descr="type_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0184" y="3986783"/>
            <a:ext cx="1095022" cy="10972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573768" y="3968495"/>
            <a:ext cx="191109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A trained model generates the keys, or picks the encryption settings for the image in front of it.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596128"/>
            <a:ext cx="11183112" cy="512064"/>
          </a:xfrm>
          <a:prstGeom prst="roundRect">
            <a:avLst>
              <a:gd name="adj" fmla="val 3500"/>
            </a:avLst>
          </a:prstGeom>
          <a:solidFill>
            <a:srgbClr val="FB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2920" y="5687568"/>
            <a:ext cx="50292" cy="329184"/>
          </a:xfrm>
          <a:prstGeom prst="roundRect">
            <a:avLst>
              <a:gd name="adj" fmla="val 45000"/>
            </a:avLst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5742432"/>
            <a:ext cx="108356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We use type 3 as the main method, type 1 (AES-256) as an optional extra layer, and a small type 6 model to choose the settings.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4 / </a:t>
            </a:r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Literature Study  (1–4 of 12)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0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940988"/>
              </p:ext>
            </p:extLst>
          </p:nvPr>
        </p:nvGraphicFramePr>
        <p:xfrm>
          <a:off x="329184" y="1207008"/>
          <a:ext cx="11521439" cy="480974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62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Sl.</a:t>
                      </a:r>
                    </a:p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No.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Journal,</a:t>
                      </a:r>
                    </a:p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Publisher &amp; Year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Title &amp; Author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Methodology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Findings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Limitation</a:t>
                      </a: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 Access,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IEEE, 2025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Comprehensive Review and Analysis of Image Encryption Techniques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 K. Mahalakshmi, S. Nagarajan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Reviews six families of methods — traditional, quantum, chaos, DNA, neural network and compressive sensing — and compares their speed, key sensitivity and attack resistance.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Chaos-based and hybrid methods give the best balance of security and speed. No single method is best for everything.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Only a review, nothing is implemented. Says key management and real-time speed are still open problems.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Journal of Imaging,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MDPI, 2022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Secure Image Encryption Using Chaotic, Hybrid Chaotic and Block Cipher Approach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 N. Chaudhary, T. B. Shahi, A. Neupane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Actually builds three systems — Arnold Cat Map alone, Arnold + Logistic (hybrid) and AES — and compares them on the same benchmark images.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 hybrid chaotic method gives the best differential-attack scores (NPCR 95–99, UACI 28–34). AES is the slowest of the three.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one fixed parameter setting for every image. Only 2D maps tested and no cryptanalysis is done.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 Access,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IEEE, 2020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Investigation of Chaotic Image Encryption in Spatial and FrFT Domains for Cybersecurity Applications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 O. S. Faragallah et al.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Applies Cat, Baker and Logistic maps in the normal (spatial) domain and in the Fractional Fourier Transform domain, using the transform angle as an extra key.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Working in the FrFT domain improves scrambling and adds key space. Baker-FrFT and Logistic-FrFT survive channel noise well.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Cat-FrFT is weak against noise. The extra transform costs computation time. Tested only on grayscale images.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Mathematics,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MDPI, 2023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Chaos-Based Image Encryption: Review, Application and Challenges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 B. Zhang, L. Liu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Reviews how chaos has been combined with neural networks, DNA, genetic algorithms, blockchain and elliptic curves, plus the standard security tests.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Chaos is still the most effective base for image encryption because it is extremely sensitive to its starting values.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Two problems remain unsolved: resisting cryptanalysis, and working on images while they are still encrypted.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81825696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5 / </a:t>
            </a:r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Literature Study  (5–8 of 12)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0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940988"/>
              </p:ext>
            </p:extLst>
          </p:nvPr>
        </p:nvGraphicFramePr>
        <p:xfrm>
          <a:off x="329184" y="1207008"/>
          <a:ext cx="11521439" cy="480974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62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Sl.</a:t>
                      </a:r>
                    </a:p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No.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Journal,</a:t>
                      </a:r>
                    </a:p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Publisher &amp; Year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Title &amp; Author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Methodology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Findings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Limitation</a:t>
                      </a: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ICDICI (Conference),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IEEE, 2024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Comprehensive Review of Image Encryption Algorithms: Techniques and Applications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 C. Sheeba Joice, S. Hitha Shanthini, K. V. Harsha, S. Gopika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Survey of symmetric, asymmetric, chaos-based, quantum and hybrid algorithms with a strengths-and-weaknesses comparison for each application area.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Hybrid methods are the most used today. Chaos-based methods are preferred wherever speed matters.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Comparison is descriptive only — no common test images and no measured numbers.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ICIT (Conference),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IEEE, 2021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Survey of Image Encryption Algorithms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 Q. H. Makki, A. M. Abdalla, A. A. Tamimi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Picks several algorithms with different characteristics and compares them on usage, quality, security and other metrics, mainly for document images.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Gives a selection table; concludes that no single algorithm suits every type of image or situation.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number of algorithms compared and no experiments repeated by the authors.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ICICACS (Conference),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IEEE, 2024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Comprehensive Study on Various Encryption Techniques for Digital Images in Multimedia Networks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 S. Benaka Santhosha, K. V. Sudheesh, K. Puttegowda, B. D. Parameshachari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Studies symmetric, asymmetric and hybrid techniques for multimedia networks using MSE, PSNR, NC and BER, across banking, healthcare and military use.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Key management and computation cost are the two problems that keep coming back in every method.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implementation. Reports image-quality numbers instead of attack-resistance numbers.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IJCC (Conference),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IEEE, 2024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Image Encryption Techniques: A Survey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 H. A. Abughali, U. Köse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Studies 25 years of literature — AES, RSA, Blowfish, quantum and DNA-based schemes — comparing encryption speed, complexity and attack resistance.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 method must match the environment. Classical block ciphers stay expensive for large images.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common experimental setup; the conclusions are taken from the reviewed papers.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27343889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6 / </a:t>
            </a:r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Literature Study  (9–12 of 12)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0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940988"/>
              </p:ext>
            </p:extLst>
          </p:nvPr>
        </p:nvGraphicFramePr>
        <p:xfrm>
          <a:off x="329184" y="1207008"/>
          <a:ext cx="11521439" cy="480974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62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Sl.</a:t>
                      </a:r>
                    </a:p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No.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Journal,</a:t>
                      </a:r>
                    </a:p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Publisher &amp; Year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Title &amp; Author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Methodology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Findings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  <a:ea typeface="Times New Roman"/>
                          <a:cs typeface="Times New Roman"/>
                        </a:rPr>
                        <a:t>Limitation</a:t>
                      </a: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SUMMA (Conference),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IEEE, 2021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Design of Digital Image Encryption Scheme With Cryptographic Analysis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 K. Kordov, S. Zhelezov, A. Nachev, N. Gueorguiev, D. Pavlova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Builds a cipher where two chaotic maps together form a random number generator that drives pixel shuffling and value substitution.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Proves that a two-map hybrid passes the full set of statistical tests — a direct precedent for our Arnold + Logistic design.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fixed parameter set for all images, no per-image adjustment and no user-facing application.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 Access,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IEEE, 2022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Systematic Survey on Visually Meaningful Image Encryption Techniques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 V. Himthani, V. S. Dhaka, M. Kaur, D. Singh, H.-N. Lee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Surveys methods that first encrypt an image and then hide it inside a normal-looking cover image, so the output is not obvious noise.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noise-like encrypted image attracts an attacker's attention; hiding it inside a cover image avoids that.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Hiding the data reduces image quality and capacity. The survey does not test the schemes on one common dataset.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 Trans. on Circuits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Systems I, IEEE, 2023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 Efficient Image Encryption Algorithm Based on Innovative DES Structure and Hyperchaotic Keys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 S.-Y. Li, Y. Gai, K.-C. Shih, C.-S. Chen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Shuffles rows and columns, then runs the image through a DES-style structure for four rounds using hyperchaotic sub-keys and a new S-box.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Gives a large key space and low pixel correlation, and is much faster than the original DES — usable in real time.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 round count is fixed and the new S-box still needs independent security analysis.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 Access,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IEEE, 2018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Digital Image Encryption Algorithm Based on Elliptic Curve Public Cryptosystem</a:t>
                      </a:r>
                    </a:p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 X. Zhang, X. Wang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public-key method: sender and receiver agree on an elliptic curve point, pixels are grouped into big integers and encrypted with ECC plus chaos.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Removes the problem of safely sending the secret key, while keeping reasonable speed.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62F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Public-key operations are heavy for large images and no differential-attack results are reported.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9084284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7 / </a:t>
            </a:r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Research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11183112" cy="1170432"/>
          </a:xfrm>
          <a:prstGeom prst="roundRect">
            <a:avLst>
              <a:gd name="adj" fmla="val 35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50292" cy="987552"/>
          </a:xfrm>
          <a:prstGeom prst="roundRect">
            <a:avLst>
              <a:gd name="adj" fmla="val 4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1353312"/>
            <a:ext cx="10799064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What all 12 papers already agree on</a:t>
            </a:r>
          </a:p>
          <a:p>
            <a:pPr>
              <a:spcAft>
                <a:spcPts val="200"/>
              </a:spcAft>
            </a:pPr>
            <a:r>
              <a:rPr sz="1600" b="0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600" b="1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Hybrid chaotic encryption works best</a:t>
            </a:r>
          </a:p>
          <a:p>
            <a:pPr>
              <a:spcAft>
                <a:spcPts val="200"/>
              </a:spcAft>
            </a:pPr>
            <a:r>
              <a:rPr sz="1300" b="0" i="1" dirty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Shuffle the pixels first (confusion), then change their values (diffusion). Papers 2, 9 and 11 all follow this order.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23744"/>
            <a:ext cx="11183112" cy="1975104"/>
          </a:xfrm>
          <a:prstGeom prst="roundRect">
            <a:avLst>
              <a:gd name="adj" fmla="val 3500"/>
            </a:avLst>
          </a:prstGeom>
          <a:solidFill>
            <a:srgbClr val="FB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2615184"/>
            <a:ext cx="50292" cy="1792224"/>
          </a:xfrm>
          <a:prstGeom prst="roundRect">
            <a:avLst>
              <a:gd name="adj" fmla="val 45000"/>
            </a:avLst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2670048"/>
            <a:ext cx="10799064" cy="1682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The gap we found — and it is a simple one</a:t>
            </a:r>
          </a:p>
          <a:p>
            <a:pPr>
              <a:spcAft>
                <a:spcPts val="200"/>
              </a:spcAft>
            </a:pPr>
            <a:r>
              <a:rPr sz="1600" b="0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6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Every paper uses ONE fixed setting for EVERY image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The same number of shuffling rounds and the same starting value are used for a dark X-ray, a bright selfie and a plain white document — even though these images are completely different.</a:t>
            </a:r>
          </a:p>
          <a:p>
            <a:pPr>
              <a:spcAft>
                <a:spcPts val="200"/>
              </a:spcAft>
            </a:pPr>
            <a:r>
              <a:rPr sz="1600" b="0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6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No easy tool for a normal user</a:t>
            </a:r>
          </a:p>
          <a:p>
            <a:pPr>
              <a:spcAft>
                <a:spcPts val="400"/>
              </a:spcAft>
            </a:pPr>
            <a:r>
              <a:rPr sz="130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All the work stays in research code. A student, doctor or ordinary user has no simple app to encrypt a picture.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63440"/>
            <a:ext cx="11183112" cy="1298448"/>
          </a:xfrm>
          <a:prstGeom prst="roundRect">
            <a:avLst>
              <a:gd name="adj" fmla="val 3500"/>
            </a:avLst>
          </a:prstGeom>
          <a:solidFill>
            <a:srgbClr val="F7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4754880"/>
            <a:ext cx="50292" cy="1115568"/>
          </a:xfrm>
          <a:prstGeom prst="roundRect">
            <a:avLst>
              <a:gd name="adj" fmla="val 45000"/>
            </a:avLst>
          </a:prstGeom>
          <a:solidFill>
            <a:srgbClr val="9A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4809744"/>
            <a:ext cx="1079906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9A6608"/>
                </a:solidFill>
                <a:latin typeface="Times New Roman"/>
                <a:ea typeface="Times New Roman"/>
                <a:cs typeface="Times New Roman"/>
              </a:rPr>
              <a:t>How we fill it</a:t>
            </a:r>
          </a:p>
          <a:p>
            <a:pPr>
              <a:spcAft>
                <a:spcPts val="200"/>
              </a:spcAft>
            </a:pPr>
            <a:r>
              <a:rPr sz="1600" b="0" i="0">
                <a:solidFill>
                  <a:srgbClr val="9A6608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6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A small AI model reads the image first and then chooses the settings</a:t>
            </a:r>
          </a:p>
          <a:p>
            <a:pPr>
              <a:spcAft>
                <a:spcPts val="200"/>
              </a:spcAft>
            </a:pPr>
            <a:r>
              <a:rPr sz="130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It measures how detailed the image is, picks the number of shuffling rounds and decides whether the extra AES layer is needed — then we wrap the whole thing in a full web application, and add selective encryption so only the sensitive regions of a document get locked.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8 / </a:t>
            </a:r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Objectives of the Project — What We Picked and Why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11183112" cy="1463040"/>
          </a:xfrm>
          <a:prstGeom prst="roundRect">
            <a:avLst>
              <a:gd name="adj" fmla="val 3500"/>
            </a:avLst>
          </a:prstGeom>
          <a:solidFill>
            <a:srgbClr val="FB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50292" cy="1280160"/>
          </a:xfrm>
          <a:prstGeom prst="roundRect">
            <a:avLst>
              <a:gd name="adj" fmla="val 45000"/>
            </a:avLst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1353312"/>
            <a:ext cx="1079906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What we picked</a:t>
            </a:r>
          </a:p>
          <a:p>
            <a:pPr>
              <a:spcAft>
                <a:spcPts val="200"/>
              </a:spcAft>
            </a:pPr>
            <a:r>
              <a:rPr sz="1600" b="0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6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Arnold Cat Map for confusion + Logistic Map for diffusion, with AES-256 as an optional extra layer</a:t>
            </a:r>
          </a:p>
          <a:p>
            <a:pPr>
              <a:spcAft>
                <a:spcPts val="200"/>
              </a:spcAft>
            </a:pPr>
            <a:r>
              <a:rPr sz="130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Chosen because Paper 2 measured this hybrid combination as the strongest against differential attacks, and Paper 9 proved a two-map design passes all the standard statistical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52928"/>
            <a:ext cx="11183112" cy="557784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13970">
            <a:solidFill>
              <a:srgbClr val="008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871216"/>
            <a:ext cx="566928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889504"/>
            <a:ext cx="101772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Build a working hybrid chaotic encryption and decryption program</a:t>
            </a:r>
          </a:p>
          <a:p>
            <a:r>
              <a:rPr sz="11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Decryption must return exactly the original image, with no quality loss anywhere.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79292"/>
            <a:ext cx="11183112" cy="557784"/>
          </a:xfrm>
          <a:prstGeom prst="roundRect">
            <a:avLst>
              <a:gd name="adj" fmla="val 10000"/>
            </a:avLst>
          </a:prstGeom>
          <a:solidFill>
            <a:srgbClr val="FBECF0"/>
          </a:solidFill>
          <a:ln w="1397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497580"/>
            <a:ext cx="566928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O2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515868"/>
            <a:ext cx="101772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Add a small AI module that chooses the settings for each image</a:t>
            </a:r>
          </a:p>
          <a:p>
            <a:r>
              <a:rPr sz="11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This is our contribution — the gap that none of the 12 papers fills.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05656"/>
            <a:ext cx="11183112" cy="557784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13970">
            <a:solidFill>
              <a:srgbClr val="008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123944"/>
            <a:ext cx="566928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O3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4142232"/>
            <a:ext cx="101772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Put it inside a web application anyone can use</a:t>
            </a:r>
          </a:p>
          <a:p>
            <a:r>
              <a:rPr sz="11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Upload an image, click encrypt, download the result and the key file — with accounts and a per-user history archive.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732020"/>
            <a:ext cx="11183112" cy="557784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13970">
            <a:solidFill>
              <a:srgbClr val="008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750308"/>
            <a:ext cx="566928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O4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4768596"/>
            <a:ext cx="101772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Keep the encrypted image safe to verify</a:t>
            </a:r>
          </a:p>
          <a:p>
            <a:r>
              <a:rPr sz="11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Attach a SHA-256 tag so the receiver knows the file was not tampered with.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58384"/>
            <a:ext cx="11183112" cy="557784"/>
          </a:xfrm>
          <a:prstGeom prst="roundRect">
            <a:avLst>
              <a:gd name="adj" fmla="val 10000"/>
            </a:avLst>
          </a:prstGeom>
          <a:solidFill>
            <a:srgbClr val="FBECF0"/>
          </a:solidFill>
          <a:ln w="1397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376672"/>
            <a:ext cx="566928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O5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5394960"/>
            <a:ext cx="101772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Encrypt only the sensitive parts of a document</a:t>
            </a:r>
          </a:p>
          <a:p>
            <a:r>
              <a:rPr sz="11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Detect PII regions — Aadhaar, PAN, phone, signature, QR — and lock just those with AES-256-GCM, leaving the rest readable.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9 / </a:t>
            </a:r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11183112" cy="612648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13970">
            <a:solidFill>
              <a:srgbClr val="008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43584"/>
            <a:ext cx="82296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261872"/>
            <a:ext cx="9884664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Study the literature</a:t>
            </a:r>
          </a:p>
          <a:p>
            <a:r>
              <a:rPr sz="11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Read 12 papers from IEEE and MDPI and note the method, findings and limitation of each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97380"/>
            <a:ext cx="11183112" cy="6126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8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933956"/>
            <a:ext cx="82296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52244"/>
            <a:ext cx="9884664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Find the gap</a:t>
            </a:r>
          </a:p>
          <a:p>
            <a:r>
              <a:rPr sz="11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Compare the limitation columns and look for something small that nobody has done — per-image settings.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87752"/>
            <a:ext cx="11183112" cy="612648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13970">
            <a:solidFill>
              <a:srgbClr val="9A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8"/>
            <a:ext cx="82296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9A6608"/>
                </a:solidFill>
                <a:latin typeface="Times New Roman"/>
                <a:ea typeface="Times New Roman"/>
                <a:cs typeface="Times New Roman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642616"/>
            <a:ext cx="9884664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Design the system</a:t>
            </a:r>
          </a:p>
          <a:p>
            <a:r>
              <a:rPr sz="11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Choose Arnold Cat Map + Logistic Map because Paper 2 measured them as the best hybrid combination.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78124"/>
            <a:ext cx="11183112" cy="6126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9A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314700"/>
            <a:ext cx="82296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9A6608"/>
                </a:solidFill>
                <a:latin typeface="Times New Roman"/>
                <a:ea typeface="Times New Roman"/>
                <a:cs typeface="Times New Roman"/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332988"/>
            <a:ext cx="9884664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Build the encryption core first</a:t>
            </a:r>
          </a:p>
          <a:p>
            <a:r>
              <a:rPr sz="11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Write and test the encrypt and decrypt functions on their own, before any user interface.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68496"/>
            <a:ext cx="11183112" cy="612648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1397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005072"/>
            <a:ext cx="82296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Step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023360"/>
            <a:ext cx="9884664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Add the AI module</a:t>
            </a:r>
          </a:p>
          <a:p>
            <a:r>
              <a:rPr sz="11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Encode the readable decision rules over entropy, edge density and size that choose the settings per image.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58868"/>
            <a:ext cx="11183112" cy="6126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695444"/>
            <a:ext cx="82296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Step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713732"/>
            <a:ext cx="9884664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Add selective encryption</a:t>
            </a:r>
          </a:p>
          <a:p>
            <a:r>
              <a:rPr sz="11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Detect the PII regions and lock each one with AES-256-GCM under a PBKDF2-derived key.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349240"/>
            <a:ext cx="11183112" cy="612648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1397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385816"/>
            <a:ext cx="82296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Step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404104"/>
            <a:ext cx="9884664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Build the web app and test</a:t>
            </a:r>
          </a:p>
          <a:p>
            <a:r>
              <a:rPr sz="11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Wrap everything in React and Express, then test with different image types and confirm the decrypted image matches the original byte for byte.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10 / 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Technology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11183112" cy="402336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25272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3048" y="1252728"/>
            <a:ext cx="7589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Web application — React SPA served by one Express server on a single 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8706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Front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1687068"/>
            <a:ext cx="7589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React 19 + TypeScript 5.9 · Vite 7 · React Router 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75688"/>
            <a:ext cx="11183112" cy="402336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21214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User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121408"/>
            <a:ext cx="7589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shadcn/ui + Radix primitives · Tailwind CSS · Motion animations · Three.js accents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55574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Back 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2555748"/>
            <a:ext cx="7589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Node.js + Express 5 · Multer uploads · SSE streams the pipeline reasoning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44368"/>
            <a:ext cx="11183112" cy="402336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299008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Image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2990088"/>
            <a:ext cx="7589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Jimp — lossless PNG decode / encode at native resolution, in colour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42442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Chaotic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048" y="3424428"/>
            <a:ext cx="7589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Arnold Cat Map + Logistic Map in pure JavaScript typed arrays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13048"/>
            <a:ext cx="11183112" cy="402336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" y="385876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AI /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3048" y="3858768"/>
            <a:ext cx="7589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Readable decision tree for the parameters · Gemini Vision or in-browser Tesseract.js OCR for PII regions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42931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Cryptography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3048" y="4293108"/>
            <a:ext cx="7589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node:crypto — AES-256-GCM, PBKDF2-SHA-512 (100k iterations), SHA-256, scrypt password hashing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681728"/>
            <a:ext cx="11183112" cy="402336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" y="472744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3048" y="4727448"/>
            <a:ext cx="7589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node:sqlite — accounts, sessions and the History archive (cipher / key / recovered)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516178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Code editor /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3048" y="5161788"/>
            <a:ext cx="7589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VS Code, Git and GitHub · ESLint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550408"/>
            <a:ext cx="11183112" cy="402336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" y="559612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3048" y="5596128"/>
            <a:ext cx="7589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node:test round-trip suite + a per-run self-test that decrypted bytes == original bytes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11</a:t>
            </a:r>
            <a:r>
              <a:rPr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Project Feature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5330952" cy="4663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6510">
            <a:solidFill>
              <a:srgbClr val="008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207008"/>
            <a:ext cx="5330952" cy="621792"/>
          </a:xfrm>
          <a:prstGeom prst="roundRect">
            <a:avLst>
              <a:gd name="adj" fmla="val 10000"/>
            </a:avLst>
          </a:prstGeom>
          <a:solidFill>
            <a:srgbClr val="E4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207008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For the sender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39696"/>
            <a:ext cx="118872" cy="118872"/>
          </a:xfrm>
          <a:prstGeom prst="roundRect">
            <a:avLst>
              <a:gd name="adj" fmla="val 4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2011680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Upload any PNG or JPG up to 2048 px per side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79776"/>
            <a:ext cx="118872" cy="118872"/>
          </a:xfrm>
          <a:prstGeom prst="roundRect">
            <a:avLst>
              <a:gd name="adj" fmla="val 4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651760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AI suggests the best settings automatically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19856"/>
            <a:ext cx="118872" cy="118872"/>
          </a:xfrm>
          <a:prstGeom prst="roundRect">
            <a:avLst>
              <a:gd name="adj" fmla="val 4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3291840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Manual mode — rounds, seed and r yourself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59936"/>
            <a:ext cx="118872" cy="118872"/>
          </a:xfrm>
          <a:prstGeom prst="roundRect">
            <a:avLst>
              <a:gd name="adj" fmla="val 4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3931920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Optional AES-256-GCM layer with one click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00016"/>
            <a:ext cx="118872" cy="118872"/>
          </a:xfrm>
          <a:prstGeom prst="roundRect">
            <a:avLst>
              <a:gd name="adj" fmla="val 4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" y="4572000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Selective mode locks only the PII regions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40096"/>
            <a:ext cx="118872" cy="118872"/>
          </a:xfrm>
          <a:prstGeom prst="roundRect">
            <a:avLst>
              <a:gd name="adj" fmla="val 4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5212080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Download the cipher image and the key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207008"/>
            <a:ext cx="5330952" cy="4663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6510">
            <a:solidFill>
              <a:srgbClr val="5E4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55080" y="1207008"/>
            <a:ext cx="5330952" cy="621792"/>
          </a:xfrm>
          <a:prstGeom prst="roundRect">
            <a:avLst>
              <a:gd name="adj" fmla="val 10000"/>
            </a:avLst>
          </a:prstGeom>
          <a:solidFill>
            <a:srgbClr val="F3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1207008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5E4AA0"/>
                </a:solidFill>
                <a:latin typeface="Times New Roman"/>
                <a:ea typeface="Times New Roman"/>
                <a:cs typeface="Times New Roman"/>
              </a:rPr>
              <a:t>For the receiver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2139696"/>
            <a:ext cx="118872" cy="118872"/>
          </a:xfrm>
          <a:prstGeom prst="roundRect">
            <a:avLst>
              <a:gd name="adj" fmla="val 45000"/>
            </a:avLst>
          </a:prstGeom>
          <a:solidFill>
            <a:srgbClr val="5E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22008" y="2011680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Upload the cipher image plus the key file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2779776"/>
            <a:ext cx="118872" cy="118872"/>
          </a:xfrm>
          <a:prstGeom prst="roundRect">
            <a:avLst>
              <a:gd name="adj" fmla="val 45000"/>
            </a:avLst>
          </a:prstGeom>
          <a:solidFill>
            <a:srgbClr val="5E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22008" y="2651760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SHA-256 tag checked before any key is used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419856"/>
            <a:ext cx="118872" cy="118872"/>
          </a:xfrm>
          <a:prstGeom prst="roundRect">
            <a:avLst>
              <a:gd name="adj" fmla="val 45000"/>
            </a:avLst>
          </a:prstGeom>
          <a:solidFill>
            <a:srgbClr val="5E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22008" y="3291840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A wrong key gives only noise — never the image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4059936"/>
            <a:ext cx="118872" cy="118872"/>
          </a:xfrm>
          <a:prstGeom prst="roundRect">
            <a:avLst>
              <a:gd name="adj" fmla="val 45000"/>
            </a:avLst>
          </a:prstGeom>
          <a:solidFill>
            <a:srgbClr val="5E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22008" y="3931920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The correct key returns the exact original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4700016"/>
            <a:ext cx="118872" cy="118872"/>
          </a:xfrm>
          <a:prstGeom prst="roundRect">
            <a:avLst>
              <a:gd name="adj" fmla="val 45000"/>
            </a:avLst>
          </a:prstGeom>
          <a:solidFill>
            <a:srgbClr val="5E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22008" y="4572000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One page decrypts both cipher schemes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5340096"/>
            <a:ext cx="118872" cy="118872"/>
          </a:xfrm>
          <a:prstGeom prst="roundRect">
            <a:avLst>
              <a:gd name="adj" fmla="val 45000"/>
            </a:avLst>
          </a:prstGeom>
          <a:solidFill>
            <a:srgbClr val="5E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22008" y="5212080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Every run is archived in the History folders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12 / 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Implementation — The F</a:t>
            </a:r>
            <a:r>
              <a:rPr lang="en-US" sz="2700" b="1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our</a:t>
            </a:r>
            <a:r>
              <a:rPr sz="2700" b="1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1764792" cy="2395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008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207008"/>
            <a:ext cx="1764792" cy="475488"/>
          </a:xfrm>
          <a:prstGeom prst="roundRect">
            <a:avLst>
              <a:gd name="adj" fmla="val 13000"/>
            </a:avLst>
          </a:prstGeom>
          <a:solidFill>
            <a:srgbClr val="E4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76479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810512"/>
            <a:ext cx="1545336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Confusion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377440"/>
            <a:ext cx="1545336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Arnold Cat Map moves every pixel to a new position. Colour values are untouched.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2139696"/>
            <a:ext cx="13258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00300" y="1207008"/>
            <a:ext cx="1764792" cy="2395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008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400300" y="1207008"/>
            <a:ext cx="1764792" cy="475488"/>
          </a:xfrm>
          <a:prstGeom prst="roundRect">
            <a:avLst>
              <a:gd name="adj" fmla="val 13000"/>
            </a:avLst>
          </a:prstGeom>
          <a:solidFill>
            <a:srgbClr val="E4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00300" y="1207008"/>
            <a:ext cx="176479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0028" y="1810512"/>
            <a:ext cx="1545336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Diffusion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0028" y="2377440"/>
            <a:ext cx="1545336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The Logistic Map makes a keystream and we XOR it with every pixel, so the values change too.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5092" y="2139696"/>
            <a:ext cx="13258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207008"/>
            <a:ext cx="1764792" cy="2395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5E4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97680" y="1207008"/>
            <a:ext cx="1764792" cy="475488"/>
          </a:xfrm>
          <a:prstGeom prst="roundRect">
            <a:avLst>
              <a:gd name="adj" fmla="val 13000"/>
            </a:avLst>
          </a:prstGeom>
          <a:solidFill>
            <a:srgbClr val="F3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1337030"/>
            <a:ext cx="176479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1" dirty="0">
                <a:solidFill>
                  <a:srgbClr val="5E4AA0"/>
                </a:solidFill>
                <a:latin typeface="Times New Roman"/>
                <a:ea typeface="Times New Roman"/>
                <a:cs typeface="Times New Roman"/>
              </a:rPr>
              <a:t>Optional</a:t>
            </a:r>
            <a:endParaRPr sz="1400" b="1" i="0" dirty="0">
              <a:solidFill>
                <a:srgbClr val="5E4AA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07408" y="1810512"/>
            <a:ext cx="1545336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Optional AES-256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2377440"/>
            <a:ext cx="1545336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A second lock applied to the already encrypted bytes, only when the AI asks for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2472" y="2139696"/>
            <a:ext cx="13258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5060" y="1207008"/>
            <a:ext cx="1764792" cy="2395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95060" y="1207008"/>
            <a:ext cx="1764792" cy="475488"/>
          </a:xfrm>
          <a:prstGeom prst="roundRect">
            <a:avLst>
              <a:gd name="adj" fmla="val 13000"/>
            </a:avLst>
          </a:prstGeom>
          <a:solidFill>
            <a:srgbClr val="FB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5060" y="1337030"/>
            <a:ext cx="176479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Step </a:t>
            </a:r>
            <a:r>
              <a:rPr lang="en-US" sz="1400" b="1" i="0" dirty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400" b="1" i="0" dirty="0">
              <a:solidFill>
                <a:srgbClr val="B03A5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04788" y="1810512"/>
            <a:ext cx="1545336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The AI Module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4788" y="2377440"/>
            <a:ext cx="1545336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Reads three numbers from the image and picks the rounds, the seed and the AES flag.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9852" y="2139696"/>
            <a:ext cx="13258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1207008"/>
            <a:ext cx="1764792" cy="2395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092440" y="1207008"/>
            <a:ext cx="1764792" cy="475488"/>
          </a:xfrm>
          <a:prstGeom prst="roundRect">
            <a:avLst>
              <a:gd name="adj" fmla="val 13000"/>
            </a:avLst>
          </a:prstGeom>
          <a:solidFill>
            <a:srgbClr val="FB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92440" y="1337030"/>
            <a:ext cx="176479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Step </a:t>
            </a:r>
            <a:r>
              <a:rPr lang="en-US" sz="1400" b="1" i="0" dirty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400" b="1" i="0" dirty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1810512"/>
            <a:ext cx="1545336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Selective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2377440"/>
            <a:ext cx="1545336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PII regions are detected and each one is locked on its own with AES-256-GCM.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2139696"/>
            <a:ext cx="13258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89820" y="1207008"/>
            <a:ext cx="1764792" cy="2395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9A66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989820" y="1207008"/>
            <a:ext cx="1764792" cy="475488"/>
          </a:xfrm>
          <a:prstGeom prst="roundRect">
            <a:avLst>
              <a:gd name="adj" fmla="val 13000"/>
            </a:avLst>
          </a:prstGeom>
          <a:solidFill>
            <a:srgbClr val="F7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89820" y="1337030"/>
            <a:ext cx="176479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>
                <a:solidFill>
                  <a:srgbClr val="9A6608"/>
                </a:solidFill>
                <a:latin typeface="Times New Roman"/>
                <a:ea typeface="Times New Roman"/>
                <a:cs typeface="Times New Roman"/>
              </a:rPr>
              <a:t>Step </a:t>
            </a:r>
            <a:r>
              <a:rPr lang="en-US" sz="1400" b="1" i="0" dirty="0">
                <a:solidFill>
                  <a:srgbClr val="9A6608"/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 sz="1400" b="1" i="0" dirty="0">
              <a:solidFill>
                <a:srgbClr val="9A6608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099548" y="1810512"/>
            <a:ext cx="1545336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Decryption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9548" y="2377440"/>
            <a:ext cx="1545336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Every step undone in reverse order, verified against the original image.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3931920"/>
            <a:ext cx="5330952" cy="2011680"/>
          </a:xfrm>
          <a:prstGeom prst="roundRect">
            <a:avLst>
              <a:gd name="adj" fmla="val 35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02920" y="4023360"/>
            <a:ext cx="50292" cy="1828800"/>
          </a:xfrm>
          <a:prstGeom prst="roundRect">
            <a:avLst>
              <a:gd name="adj" fmla="val 4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2376" y="4078224"/>
            <a:ext cx="4946904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The two equations the whole project rests 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[x', y'] = [[1, 1], [1, 2]] · [x, y]  mod N</a:t>
            </a:r>
          </a:p>
          <a:p>
            <a:pPr>
              <a:spcAft>
                <a:spcPts val="6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Arnold Cat Map — confusion. Repeated a secret number of times.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x(n+1) = r · x(n) · (1 − x(n)),   r ≈ 3.99</a:t>
            </a:r>
          </a:p>
          <a:p>
            <a:pPr>
              <a:spcAft>
                <a:spcPts val="6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Logistic Map — diffusion. Produces the keystream we XOR with the pixels.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3931920"/>
            <a:ext cx="5330952" cy="2011680"/>
          </a:xfrm>
          <a:prstGeom prst="roundRect">
            <a:avLst>
              <a:gd name="adj" fmla="val 3500"/>
            </a:avLst>
          </a:prstGeom>
          <a:solidFill>
            <a:srgbClr val="FB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355080" y="4023360"/>
            <a:ext cx="50292" cy="1828800"/>
          </a:xfrm>
          <a:prstGeom prst="roundRect">
            <a:avLst>
              <a:gd name="adj" fmla="val 45000"/>
            </a:avLst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74536" y="4078224"/>
            <a:ext cx="4946904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What makes ours different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The settings are not fixed in the code</a:t>
            </a:r>
          </a:p>
          <a:p>
            <a:pPr>
              <a:spcAft>
                <a:spcPts val="6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A decision tree reads the entropy, the edge density and the size of the image, then chooses the rounds and the seed for that one image.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Everything is verified and archived</a:t>
            </a:r>
          </a:p>
          <a:p>
            <a:pPr>
              <a:spcAft>
                <a:spcPts val="6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A SHA-256 tag travels with the cipher, the decrypted image is asserted equal to the original byte for byte, and every run lands in History.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13 / 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Step 1 — Confusion with the Arnold Cat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68678" y="1197864"/>
            <a:ext cx="8654339" cy="4480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step1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822" y="1207008"/>
            <a:ext cx="8636051" cy="446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760720"/>
            <a:ext cx="111831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Shuffling alone is not enough — the histogram never changes, so the colour information is still all there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14 / 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Step 2 — Diffusion with the Logistic Map and XOR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30197" y="1197864"/>
            <a:ext cx="8931301" cy="4480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step2_dif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341" y="1207008"/>
            <a:ext cx="8913013" cy="446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760720"/>
            <a:ext cx="111831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Diffusion is what flattens the histogram — this is the step that actually hides the 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15 / 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Step </a:t>
            </a:r>
            <a:r>
              <a:rPr lang="en-US" sz="2700" b="1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700" b="1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 — The AI Module Picks the Settings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0245" y="1197864"/>
            <a:ext cx="10191205" cy="4480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step4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389" y="1207008"/>
            <a:ext cx="10172917" cy="446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760720"/>
            <a:ext cx="111831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Three numbers in, three settings out — this is the contribution that fills the research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16 / 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Step </a:t>
            </a:r>
            <a:r>
              <a:rPr lang="en-US" sz="2700" b="1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2700" b="1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 — Decryption is Every Step in Reverse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6920" y="1197864"/>
            <a:ext cx="9837855" cy="4480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step5_decry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064" y="1207008"/>
            <a:ext cx="9819567" cy="446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760720"/>
            <a:ext cx="111831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The difference image is completely black, which is how we prove the scheme is lossless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17 / 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Project Flow 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5760720"/>
            <a:ext cx="111831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The left side is encryption and the right side is decryption; the diamond is the only decision 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18 / 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6032B3-24CD-4FA0-0B56-069A696D9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251" y="1378387"/>
            <a:ext cx="8202450" cy="41012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The Whole Pipeline Running on a Real Image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41023" y="1197864"/>
            <a:ext cx="9309649" cy="44805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demo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311" y="1216152"/>
            <a:ext cx="9291361" cy="446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760720"/>
            <a:ext cx="111831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Confusion leaves the histogram alone, diffusion flattens it, and decryption brings back the exact original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19 / 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91A3BD-8A58-6795-C2F9-9E0C6729F9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0" b="1458"/>
          <a:stretch>
            <a:fillRect/>
          </a:stretch>
        </p:blipFill>
        <p:spPr>
          <a:xfrm>
            <a:off x="1525002" y="1423738"/>
            <a:ext cx="2015151" cy="20144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596004F-DF9C-2F3F-490A-84459ABBEF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0" b="2562"/>
          <a:stretch>
            <a:fillRect/>
          </a:stretch>
        </p:blipFill>
        <p:spPr>
          <a:xfrm>
            <a:off x="8660238" y="1416104"/>
            <a:ext cx="2046631" cy="20144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F43B0D-C465-570A-1063-AD5122AC4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486" y="1415350"/>
            <a:ext cx="2014406" cy="20144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333DE72-5C09-9067-94B8-4F380B76B5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00" b="641"/>
          <a:stretch>
            <a:fillRect/>
          </a:stretch>
        </p:blipFill>
        <p:spPr>
          <a:xfrm>
            <a:off x="6288498" y="1415350"/>
            <a:ext cx="2014407" cy="201440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New Feature — Selective Region Encryption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6355080" cy="2212848"/>
          </a:xfrm>
          <a:prstGeom prst="roundRect">
            <a:avLst>
              <a:gd name="adj" fmla="val 3500"/>
            </a:avLst>
          </a:prstGeom>
          <a:solidFill>
            <a:srgbClr val="FB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50292" cy="2029968"/>
          </a:xfrm>
          <a:prstGeom prst="roundRect">
            <a:avLst>
              <a:gd name="adj" fmla="val 45000"/>
            </a:avLst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1353312"/>
            <a:ext cx="597103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Why selective?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A document is mostly public — only a few rectangles are sensitive</a:t>
            </a:r>
          </a:p>
          <a:p>
            <a:pPr>
              <a:spcAft>
                <a:spcPts val="6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An Aadhaar card, a payslip or a prescription hides its risk in the number, the signature and the QR code, not in the letterhead.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B03A5B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Lock only those rectangles, leave the rest readable</a:t>
            </a:r>
          </a:p>
          <a:p>
            <a:pPr>
              <a:spcAft>
                <a:spcPts val="6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The receiver still sees the document; the sensitive fields stay noise until the password and the key file arrive.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66160"/>
            <a:ext cx="6355080" cy="2395728"/>
          </a:xfrm>
          <a:prstGeom prst="roundRect">
            <a:avLst>
              <a:gd name="adj" fmla="val 35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3657600"/>
            <a:ext cx="50292" cy="2212848"/>
          </a:xfrm>
          <a:prstGeom prst="roundRect">
            <a:avLst>
              <a:gd name="adj" fmla="val 4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3712464"/>
            <a:ext cx="5971032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The detection pipeline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Gemini Vision on the server, or Tesseract.js OCR in the browser</a:t>
            </a:r>
          </a:p>
          <a:p>
            <a:pPr>
              <a:spcAft>
                <a:spcPts val="5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Either way the regions come back as bounding boxes with a confidence score; the local path never sends the image anywhere.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Regex plus checksums confirm each hit</a:t>
            </a:r>
          </a:p>
          <a:p>
            <a:pPr>
              <a:spcAft>
                <a:spcPts val="5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Verhoeff for Aadhaar, Luhn for cards, context keywords for phone, email, PAN and bank accounts — eleven PII types in all.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The user always gets the final say</a:t>
            </a:r>
          </a:p>
          <a:p>
            <a:pPr>
              <a:spcAft>
                <a:spcPts val="5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Every box can be toggled, deleted or drawn by hand on the canvas before a single byte is encrypted.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07008"/>
            <a:ext cx="5330952" cy="4663440"/>
          </a:xfrm>
          <a:prstGeom prst="roundRect">
            <a:avLst>
              <a:gd name="adj" fmla="val 3500"/>
            </a:avLst>
          </a:prstGeom>
          <a:solidFill>
            <a:srgbClr val="F7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80" y="1298448"/>
            <a:ext cx="50292" cy="4480560"/>
          </a:xfrm>
          <a:prstGeom prst="roundRect">
            <a:avLst>
              <a:gd name="adj" fmla="val 45000"/>
            </a:avLst>
          </a:prstGeom>
          <a:solidFill>
            <a:srgbClr val="9A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4536" y="1353312"/>
            <a:ext cx="4946904" cy="437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9A6608"/>
                </a:solidFill>
                <a:latin typeface="Times New Roman"/>
                <a:ea typeface="Times New Roman"/>
                <a:cs typeface="Times New Roman"/>
              </a:rPr>
              <a:t>How each region is locked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9A6608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One AES-256-GCM call per region, with its own random IV</a:t>
            </a:r>
          </a:p>
          <a:p>
            <a:pPr>
              <a:spcAft>
                <a:spcPts val="6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The key comes from the password through PBKDF2-SHA-512 with 100,000 iterations and a random salt stored in the key file.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9A6608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The region pixels become visual noise</a:t>
            </a:r>
          </a:p>
          <a:p>
            <a:pPr>
              <a:spcAft>
                <a:spcPts val="6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The real ciphertext lives in the key file metadata; the noise on the image is only a marker of what is protected.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9A6608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GCM authenticates every region separately</a:t>
            </a:r>
          </a:p>
          <a:p>
            <a:pPr>
              <a:spcAft>
                <a:spcPts val="6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Flip one ciphertext byte or guess the password wrong and decryption refuses outright — tampering is detected, never silently accepted.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9A6608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5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The rest of the image is untouched</a:t>
            </a:r>
          </a:p>
          <a:p>
            <a:pPr>
              <a:spcAft>
                <a:spcPts val="600"/>
              </a:spcAft>
            </a:pPr>
            <a:r>
              <a:rPr sz="12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Outside the boxes the pixels are byte-identical to the original, so the document stays perfectly legible.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20 / 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985760" y="1558609"/>
            <a:ext cx="3794769" cy="2332162"/>
          </a:xfrm>
          <a:prstGeom prst="roundRect">
            <a:avLst>
              <a:gd name="adj" fmla="val 35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797800" y="1576832"/>
            <a:ext cx="45719" cy="2204720"/>
          </a:xfrm>
          <a:prstGeom prst="roundRect">
            <a:avLst>
              <a:gd name="adj" fmla="val 4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58480" y="1580896"/>
            <a:ext cx="3362960" cy="21544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50" b="1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What the numbers mean</a:t>
            </a:r>
          </a:p>
          <a:p>
            <a:pPr>
              <a:spcAft>
                <a:spcPts val="200"/>
              </a:spcAft>
            </a:pPr>
            <a:r>
              <a:rPr sz="1450" b="0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450" b="1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The cipher is indistinguishable from random noise</a:t>
            </a:r>
          </a:p>
          <a:p>
            <a:pPr>
              <a:spcAft>
                <a:spcPts val="400"/>
              </a:spcAft>
            </a:pPr>
            <a:r>
              <a:rPr sz="1200" b="0" i="1" dirty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Entropy near 8, zero </a:t>
            </a:r>
            <a:r>
              <a:rPr sz="1200" b="0" i="1" dirty="0" err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neighbour</a:t>
            </a:r>
            <a:r>
              <a:rPr sz="1200" b="0" i="1" dirty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correlation and ideal NPCR / UACI mean statistical and differential attacks find nothing to hold on to.</a:t>
            </a:r>
          </a:p>
          <a:p>
            <a:pPr>
              <a:spcAft>
                <a:spcPts val="200"/>
              </a:spcAft>
            </a:pPr>
            <a:r>
              <a:rPr sz="1450" b="0" i="0" dirty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▪  </a:t>
            </a:r>
            <a:r>
              <a:rPr sz="1450" b="1" i="0" dirty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And nothing is ever lost</a:t>
            </a:r>
          </a:p>
          <a:p>
            <a:pPr>
              <a:spcAft>
                <a:spcPts val="400"/>
              </a:spcAft>
            </a:pPr>
            <a:r>
              <a:rPr sz="1200" b="0" i="1" dirty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     Every run re-decrypts itself in memory and compares bytes — PSNR ∞ dB is asserted, not assumed.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21 / 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3D85F6-CD3C-26C5-1260-2D5BE4EF6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1" y="1282291"/>
            <a:ext cx="7033767" cy="46708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Results — Histogram Flattening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5147" y="1197864"/>
            <a:ext cx="11201400" cy="4081974"/>
          </a:xfrm>
          <a:prstGeom prst="rect">
            <a:avLst/>
          </a:prstGeom>
          <a:solidFill>
            <a:srgbClr val="FFFFFF"/>
          </a:solidFill>
          <a:ln w="1143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res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91" y="1207008"/>
            <a:ext cx="11183112" cy="40636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362134"/>
            <a:ext cx="111831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The plain histogram carries the image's fingerprint; the cipher histogram is flat — indistinguishable from noise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Live Application — Screenshots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3776" y="1197864"/>
            <a:ext cx="3724654" cy="2103119"/>
          </a:xfrm>
          <a:prstGeom prst="rect">
            <a:avLst/>
          </a:prstGeom>
          <a:solidFill>
            <a:srgbClr val="FFFFFF"/>
          </a:solidFill>
          <a:ln w="1143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app_home.png"/>
          <p:cNvPicPr>
            <a:picLocks noChangeAspect="1"/>
          </p:cNvPicPr>
          <p:nvPr/>
        </p:nvPicPr>
        <p:blipFill>
          <a:blip r:embed="rId2"/>
          <a:srcRect t="2000" b="8705"/>
          <a:stretch>
            <a:fillRect/>
          </a:stretch>
        </p:blipFill>
        <p:spPr>
          <a:xfrm>
            <a:off x="502919" y="1207008"/>
            <a:ext cx="4150719" cy="20848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310128"/>
            <a:ext cx="4150718" cy="1681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 dirty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Home page — hybrid chaotic encryption at a glance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197864"/>
            <a:ext cx="3724654" cy="2103119"/>
          </a:xfrm>
          <a:prstGeom prst="rect">
            <a:avLst/>
          </a:prstGeom>
          <a:solidFill>
            <a:srgbClr val="FFFFFF"/>
          </a:solidFill>
          <a:ln w="1143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45352" y="3310128"/>
            <a:ext cx="4440690" cy="1681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 dirty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Encryption workspace — live pipeline console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3758183"/>
            <a:ext cx="4159864" cy="2103119"/>
          </a:xfrm>
          <a:prstGeom prst="rect">
            <a:avLst/>
          </a:prstGeom>
          <a:solidFill>
            <a:srgbClr val="FFFFFF"/>
          </a:solidFill>
          <a:ln w="1143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5870446"/>
            <a:ext cx="415071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 dirty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Selective mode — detected PII regions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3758183"/>
            <a:ext cx="4458978" cy="2103119"/>
          </a:xfrm>
          <a:prstGeom prst="rect">
            <a:avLst/>
          </a:prstGeom>
          <a:solidFill>
            <a:srgbClr val="FFFFFF"/>
          </a:solidFill>
          <a:ln w="1143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5352" y="5870446"/>
            <a:ext cx="444069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 dirty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History — cipher · key · recovered folders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23 / 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1E1FA1C-0629-2F4A-BFAB-21D9E15F78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00" r="2319"/>
          <a:stretch>
            <a:fillRect/>
          </a:stretch>
        </p:blipFill>
        <p:spPr>
          <a:xfrm>
            <a:off x="502920" y="3767326"/>
            <a:ext cx="4150719" cy="209169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E45F2D1-8618-B8CE-48C8-D47C9C1EA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512" y="3792472"/>
            <a:ext cx="4440690" cy="201218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1CDC234-3617-D0FF-2749-862DBF220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470" y="1206898"/>
            <a:ext cx="3908557" cy="209168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References  (1 /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61872"/>
            <a:ext cx="60350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261872"/>
            <a:ext cx="10140697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K. Mahalakshmi and S. Nagarajan, “Comprehensive Review and Analysis of Image Encryption Techniques,” IEEE Access, vol. 13, pp. 109783–109813, 2025. doi: 10.1109/ACCESS.2025.3578158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66544"/>
            <a:ext cx="60350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066544"/>
            <a:ext cx="10140697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N. Chaudhary, T. B. Shahi and A. Neupane, “Secure Image Encryption Using Chaotic, Hybrid Chaotic and Block Cipher Approach,” Journal of Imaging, vol. 8, no. 6, art. 167, 2022. doi: 10.3390/jimaging8060167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16352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871216"/>
            <a:ext cx="60350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[3]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871216"/>
            <a:ext cx="10140697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O. S. Faragallah et al., “Investigation of Chaotic Image Encryption in Spatial and FrFT Domains for Cybersecurity Applications,” IEEE Access, vol. 8, pp. 42491–42503, 2020. doi: 10.1109/ACCESS.2020.2974226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75888"/>
            <a:ext cx="60350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[4]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675888"/>
            <a:ext cx="10140697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B. Zhang and L. Liu, “Chaos-Based Image Encryption: Review, Application, and Challenges,” Mathematics, vol. 11, no. 11, art. 2585, 2023. doi: 10.3390/math11112585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25696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480560"/>
            <a:ext cx="60350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[5]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80560"/>
            <a:ext cx="10140697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C. Sheeba Joice, S. Hitha Shanthini, K. V. Harsha and S. Gopika, “A Comprehensive Review of Image Encryption Algorithms: Techniques and Applications,” Proc. ICDICI, IEEE, 2024. doi: 10.1109/ICDICI62993.2024.10810878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85232"/>
            <a:ext cx="60350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[6]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5285232"/>
            <a:ext cx="10140697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Q. H. Makki, A. M. Abdalla and A. A. Tamimi, “A Survey of Image Encryption Algorithms,” Proc. ICIT, IEEE, 2021. doi: 10.1109/ICIT52682.2021.9491727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24 / 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56032"/>
            <a:ext cx="9052560" cy="676656"/>
          </a:xfrm>
        </p:spPr>
        <p:txBody>
          <a:bodyPr wrap="square" lIns="0" tIns="0" bIns="0" anchor="ctr"/>
          <a:lstStyle/>
          <a:p>
            <a:pPr algn="l"/>
            <a:r>
              <a:rPr sz="2700" b="1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References  (2 /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472"/>
            <a:ext cx="118872" cy="438912"/>
          </a:xfrm>
          <a:prstGeom prst="roundRect">
            <a:avLst>
              <a:gd name="adj" fmla="val 3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691640" cy="3302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67712" y="998982"/>
            <a:ext cx="9418320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61872"/>
            <a:ext cx="60350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[7]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261872"/>
            <a:ext cx="10140697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S. Benaka Santhosha, K. V. Sudheesh, K. Puttegowda and B. D. Parameshachari, “A Comprehensive Study on Various Encryption Techniques for Digital Images in Multimedia Networks,” Proc. ICICACS, IEEE, 2024. doi: 10.1109/ICICACS60521.2024.10498590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66544"/>
            <a:ext cx="60350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[8]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066544"/>
            <a:ext cx="10140697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H. A. Abughali and U. Köse, “Image Encryption Techniques: A Survey,” Proc. IJCC, IEEE, 2024. doi: 10.1109/IJCC64742.2024.10847281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16352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871216"/>
            <a:ext cx="60350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[9]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871216"/>
            <a:ext cx="10140697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K. Kordov, S. Zhelezov, A. Nachev, N. Gueorguiev and D. Pavlova, “Design of Digital Image Encryption Scheme With Cryptographic Analysis,” Proc. SUMMA, IEEE, 2021. doi: 10.1109/SUMMA53307.2021.9632137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75888"/>
            <a:ext cx="60350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[10]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675888"/>
            <a:ext cx="10140697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V. Himthani, V. S. Dhaka, M. Kaur, D. Singh and H.-N. Lee, “Systematic Survey on Visually Meaningful Image Encryption Techniques,” IEEE Access, vol. 10, pp. 98360–98373, 2022. doi: 10.1109/ACCESS.2022.3203173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25696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480560"/>
            <a:ext cx="60350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[11]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80560"/>
            <a:ext cx="10140697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S.-Y. Li, Y. Gai, K.-C. Shih and C.-S. Chen, “An Efficient Image Encryption Algorithm Based on Innovative DES Structure and Hyperchaotic Keys,” IEEE Trans. Circuits and Systems I, pp. 4103–4111, 2023. doi: 10.1109/TCSI.2023.3296693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85232"/>
            <a:ext cx="60350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[12]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5285232"/>
            <a:ext cx="10140697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62F33"/>
                </a:solidFill>
                <a:latin typeface="Times New Roman"/>
                <a:ea typeface="Times New Roman"/>
                <a:cs typeface="Times New Roman"/>
              </a:rPr>
              <a:t>X. Zhang and X. Wang, “Digital Image Encryption Algorithm Based on Elliptic Curve Public Cryptosystem,” IEEE Access, vol. 6, pp. 70025–70034, 2018. doi: 10.1109/ACCESS.2018.2879844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25 / 26</a:t>
            </a:r>
            <a:endParaRPr sz="1050" b="1" i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0152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Questions?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4297680"/>
            <a:ext cx="548640" cy="57150"/>
          </a:xfrm>
          <a:prstGeom prst="roundRect">
            <a:avLst>
              <a:gd name="adj" fmla="val 45000"/>
            </a:avLst>
          </a:prstGeom>
          <a:solidFill>
            <a:srgbClr val="00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504688" y="4297680"/>
            <a:ext cx="548640" cy="57150"/>
          </a:xfrm>
          <a:prstGeom prst="roundRect">
            <a:avLst>
              <a:gd name="adj" fmla="val 45000"/>
            </a:avLst>
          </a:prstGeom>
          <a:solidFill>
            <a:srgbClr val="9A6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63056" y="4297680"/>
            <a:ext cx="548640" cy="57150"/>
          </a:xfrm>
          <a:prstGeom prst="roundRect">
            <a:avLst>
              <a:gd name="adj" fmla="val 45000"/>
            </a:avLst>
          </a:prstGeom>
          <a:solidFill>
            <a:srgbClr val="5E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21424" y="4297680"/>
            <a:ext cx="548640" cy="57150"/>
          </a:xfrm>
          <a:prstGeom prst="roundRect">
            <a:avLst>
              <a:gd name="adj" fmla="val 45000"/>
            </a:avLst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4937760"/>
            <a:ext cx="111831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Yash Kumar Raut  ·  Rishu Mehta  ·  Suman Kumar
Guide: Dr. Sampa Sahoo  ·  Dept. of CSE, C. V. Raman Global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36208"/>
            <a:ext cx="11183112" cy="11430"/>
          </a:xfrm>
          <a:prstGeom prst="rect">
            <a:avLst/>
          </a:prstGeom>
          <a:solidFill>
            <a:srgbClr val="D6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3093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A6166"/>
                </a:solidFill>
                <a:latin typeface="Times New Roman"/>
                <a:ea typeface="Times New Roman"/>
                <a:cs typeface="Times New Roman"/>
              </a:rPr>
              <a:t>Image Encryption and Decryption using a Hybrid Chaotic Approach  ·  C. V. Raman Global University, Bhubaneswar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09360"/>
            <a:ext cx="987552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IN" sz="1050" b="1" i="0">
                <a:solidFill>
                  <a:srgbClr val="0085A6"/>
                </a:solidFill>
                <a:latin typeface="Times New Roman"/>
                <a:ea typeface="Times New Roman"/>
                <a:cs typeface="Times New Roman"/>
              </a:rPr>
              <a:t>26 / 26</a:t>
            </a:r>
            <a:endParaRPr sz="1050" b="1" i="0" dirty="0">
              <a:solidFill>
                <a:srgbClr val="0085A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 panose="020F0302020204030204"/>
        <a:ea typeface="Times New Roman"/>
        <a:cs typeface="Times New Roman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 panose="020F0502020204030204"/>
        <a:ea typeface="Times New Roman"/>
        <a:cs typeface="Times New Roman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4610</Words>
  <Application>Microsoft Office PowerPoint</Application>
  <PresentationFormat>Widescreen</PresentationFormat>
  <Paragraphs>432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Times New Roman</vt:lpstr>
      <vt:lpstr>Office Theme</vt:lpstr>
      <vt:lpstr>PowerPoint Presentation</vt:lpstr>
      <vt:lpstr>Outline</vt:lpstr>
      <vt:lpstr>Introduction — Image Encryption and Decryption</vt:lpstr>
      <vt:lpstr>Types of Image Encryption</vt:lpstr>
      <vt:lpstr>Literature Study  (1–4 of 12)</vt:lpstr>
      <vt:lpstr>Literature Study  (5–8 of 12)</vt:lpstr>
      <vt:lpstr>Literature Study  (9–12 of 12)</vt:lpstr>
      <vt:lpstr>Research Gap</vt:lpstr>
      <vt:lpstr>Objectives of the Project — What We Picked and Why</vt:lpstr>
      <vt:lpstr>Methodology</vt:lpstr>
      <vt:lpstr>Technology Platform</vt:lpstr>
      <vt:lpstr>Project Feature Overview</vt:lpstr>
      <vt:lpstr>Implementation — The Four Steps</vt:lpstr>
      <vt:lpstr>Step 1 — Confusion with the Arnold Cat Map</vt:lpstr>
      <vt:lpstr>Step 2 — Diffusion with the Logistic Map and XOR</vt:lpstr>
      <vt:lpstr>Step 3 — The AI Module Picks the Settings</vt:lpstr>
      <vt:lpstr>Step 4 — Decryption is Every Step in Reverse</vt:lpstr>
      <vt:lpstr>Project Flow Chart</vt:lpstr>
      <vt:lpstr>The Whole Pipeline Running on a Real Image</vt:lpstr>
      <vt:lpstr>New Feature — Selective Region Encryption</vt:lpstr>
      <vt:lpstr>Results</vt:lpstr>
      <vt:lpstr>Results — Histogram Flattening</vt:lpstr>
      <vt:lpstr>Live Application — Screenshots</vt:lpstr>
      <vt:lpstr>References  (1 / 2)</vt:lpstr>
      <vt:lpstr>References  (2 / 2)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Microsoft account</dc:creator>
  <cp:lastModifiedBy>Yash Raut</cp:lastModifiedBy>
  <cp:revision>18</cp:revision>
  <dcterms:created xsi:type="dcterms:W3CDTF">2021-10-20T17:21:02Z</dcterms:created>
  <dcterms:modified xsi:type="dcterms:W3CDTF">2026-09-12T09:36:07Z</dcterms:modified>
</cp:coreProperties>
</file>